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71" r:id="rId9"/>
    <p:sldId id="272" r:id="rId10"/>
    <p:sldId id="273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59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66FF99"/>
    <a:srgbClr val="003399"/>
    <a:srgbClr val="9900CC"/>
    <a:srgbClr val="9900FF"/>
    <a:srgbClr val="33CC33"/>
    <a:srgbClr val="9966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2" autoAdjust="0"/>
  </p:normalViewPr>
  <p:slideViewPr>
    <p:cSldViewPr>
      <p:cViewPr varScale="1">
        <p:scale>
          <a:sx n="92" d="100"/>
          <a:sy n="92" d="100"/>
        </p:scale>
        <p:origin x="11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A0749A-E114-40DB-8C93-0440F6198C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58C976-17BD-43E2-9EA8-9748212BA59A}">
      <dgm:prSet/>
      <dgm:spPr/>
      <dgm:t>
        <a:bodyPr/>
        <a:lstStyle/>
        <a:p>
          <a:r>
            <a:rPr lang="en-US"/>
            <a:t>Class and attributes</a:t>
          </a:r>
        </a:p>
      </dgm:t>
    </dgm:pt>
    <dgm:pt modelId="{FA2267FD-F31C-4453-9FDB-3177DBF41302}" type="parTrans" cxnId="{1E57C44C-236A-498E-ADA8-579FB8128A85}">
      <dgm:prSet/>
      <dgm:spPr/>
      <dgm:t>
        <a:bodyPr/>
        <a:lstStyle/>
        <a:p>
          <a:endParaRPr lang="en-US"/>
        </a:p>
      </dgm:t>
    </dgm:pt>
    <dgm:pt modelId="{5E85CF6D-0647-46E4-92E7-DD0BC17764C9}" type="sibTrans" cxnId="{1E57C44C-236A-498E-ADA8-579FB8128A85}">
      <dgm:prSet/>
      <dgm:spPr/>
      <dgm:t>
        <a:bodyPr/>
        <a:lstStyle/>
        <a:p>
          <a:endParaRPr lang="en-US"/>
        </a:p>
      </dgm:t>
    </dgm:pt>
    <dgm:pt modelId="{141218BA-955A-4281-95E2-8975ED88D35E}">
      <dgm:prSet/>
      <dgm:spPr/>
      <dgm:t>
        <a:bodyPr/>
        <a:lstStyle/>
        <a:p>
          <a:r>
            <a:rPr lang="en-US"/>
            <a:t>Similar to struct and fields in a struct</a:t>
          </a:r>
        </a:p>
      </dgm:t>
    </dgm:pt>
    <dgm:pt modelId="{BBB8E552-02E1-4E74-AF33-19C2BCBE0BED}" type="parTrans" cxnId="{E2C8EF6E-F062-4345-AC66-34D914AF851F}">
      <dgm:prSet/>
      <dgm:spPr/>
      <dgm:t>
        <a:bodyPr/>
        <a:lstStyle/>
        <a:p>
          <a:endParaRPr lang="en-US"/>
        </a:p>
      </dgm:t>
    </dgm:pt>
    <dgm:pt modelId="{1F59CFA2-A755-4A5E-BBE7-6D018001366A}" type="sibTrans" cxnId="{E2C8EF6E-F062-4345-AC66-34D914AF851F}">
      <dgm:prSet/>
      <dgm:spPr/>
      <dgm:t>
        <a:bodyPr/>
        <a:lstStyle/>
        <a:p>
          <a:endParaRPr lang="en-US"/>
        </a:p>
      </dgm:t>
    </dgm:pt>
    <dgm:pt modelId="{CC7EDB1C-ED12-46EB-8BC9-B6A83DDB29A3}">
      <dgm:prSet/>
      <dgm:spPr/>
      <dgm:t>
        <a:bodyPr/>
        <a:lstStyle/>
        <a:p>
          <a:r>
            <a:rPr lang="en-US"/>
            <a:t>Relationships</a:t>
          </a:r>
        </a:p>
      </dgm:t>
    </dgm:pt>
    <dgm:pt modelId="{E85C10B8-FD9E-4AB5-BFAC-31ACEE18A0CE}" type="parTrans" cxnId="{946E3E75-9899-457F-8881-8DB8F2A89B63}">
      <dgm:prSet/>
      <dgm:spPr/>
      <dgm:t>
        <a:bodyPr/>
        <a:lstStyle/>
        <a:p>
          <a:endParaRPr lang="en-US"/>
        </a:p>
      </dgm:t>
    </dgm:pt>
    <dgm:pt modelId="{E2E07BDA-BB8D-414B-9B06-FF4F66CB83AB}" type="sibTrans" cxnId="{946E3E75-9899-457F-8881-8DB8F2A89B63}">
      <dgm:prSet/>
      <dgm:spPr/>
      <dgm:t>
        <a:bodyPr/>
        <a:lstStyle/>
        <a:p>
          <a:endParaRPr lang="en-US"/>
        </a:p>
      </dgm:t>
    </dgm:pt>
    <dgm:pt modelId="{C5055084-2878-478A-BF72-932DC1AE5862}">
      <dgm:prSet/>
      <dgm:spPr/>
      <dgm:t>
        <a:bodyPr/>
        <a:lstStyle/>
        <a:p>
          <a:r>
            <a:rPr lang="en-US"/>
            <a:t>Association</a:t>
          </a:r>
        </a:p>
      </dgm:t>
    </dgm:pt>
    <dgm:pt modelId="{02B94701-BB3C-4E12-A64D-FA5BEBE8EC9D}" type="parTrans" cxnId="{A9854692-19BC-48B8-8979-18FCDF372FCC}">
      <dgm:prSet/>
      <dgm:spPr/>
      <dgm:t>
        <a:bodyPr/>
        <a:lstStyle/>
        <a:p>
          <a:endParaRPr lang="en-US"/>
        </a:p>
      </dgm:t>
    </dgm:pt>
    <dgm:pt modelId="{6EA1890C-61C1-41BD-A5C9-3AD3C46454CE}" type="sibTrans" cxnId="{A9854692-19BC-48B8-8979-18FCDF372FCC}">
      <dgm:prSet/>
      <dgm:spPr/>
      <dgm:t>
        <a:bodyPr/>
        <a:lstStyle/>
        <a:p>
          <a:endParaRPr lang="en-US"/>
        </a:p>
      </dgm:t>
    </dgm:pt>
    <dgm:pt modelId="{B153E446-520D-42EE-BA76-6A0581D54DFD}">
      <dgm:prSet/>
      <dgm:spPr/>
      <dgm:t>
        <a:bodyPr/>
        <a:lstStyle/>
        <a:p>
          <a:r>
            <a:rPr lang="en-US"/>
            <a:t>Aggregation</a:t>
          </a:r>
        </a:p>
      </dgm:t>
    </dgm:pt>
    <dgm:pt modelId="{9740215D-53A4-4654-B4EA-B9FC655A7F59}" type="parTrans" cxnId="{7E80AEAB-15B3-4D8E-B2AA-6C3B0A124283}">
      <dgm:prSet/>
      <dgm:spPr/>
      <dgm:t>
        <a:bodyPr/>
        <a:lstStyle/>
        <a:p>
          <a:endParaRPr lang="en-US"/>
        </a:p>
      </dgm:t>
    </dgm:pt>
    <dgm:pt modelId="{2B7E40BB-399E-4B6A-89D0-E0FA9A0A2844}" type="sibTrans" cxnId="{7E80AEAB-15B3-4D8E-B2AA-6C3B0A124283}">
      <dgm:prSet/>
      <dgm:spPr/>
      <dgm:t>
        <a:bodyPr/>
        <a:lstStyle/>
        <a:p>
          <a:endParaRPr lang="en-US"/>
        </a:p>
      </dgm:t>
    </dgm:pt>
    <dgm:pt modelId="{C7E36837-DCEE-407B-8645-93127BD635A2}">
      <dgm:prSet/>
      <dgm:spPr/>
      <dgm:t>
        <a:bodyPr/>
        <a:lstStyle/>
        <a:p>
          <a:r>
            <a:rPr lang="en-US"/>
            <a:t>Composition</a:t>
          </a:r>
        </a:p>
      </dgm:t>
    </dgm:pt>
    <dgm:pt modelId="{7EDA3396-D506-404C-BEA5-2A06C2C9B39C}" type="parTrans" cxnId="{3A8629EC-FC80-4622-81F7-4087E9772CA4}">
      <dgm:prSet/>
      <dgm:spPr/>
      <dgm:t>
        <a:bodyPr/>
        <a:lstStyle/>
        <a:p>
          <a:endParaRPr lang="en-US"/>
        </a:p>
      </dgm:t>
    </dgm:pt>
    <dgm:pt modelId="{3F3FA1CE-7805-47A2-B933-F33F908A8CCB}" type="sibTrans" cxnId="{3A8629EC-FC80-4622-81F7-4087E9772CA4}">
      <dgm:prSet/>
      <dgm:spPr/>
      <dgm:t>
        <a:bodyPr/>
        <a:lstStyle/>
        <a:p>
          <a:endParaRPr lang="en-US"/>
        </a:p>
      </dgm:t>
    </dgm:pt>
    <dgm:pt modelId="{AD27C8E3-58CB-41B3-837D-DC4B219ADA54}">
      <dgm:prSet/>
      <dgm:spPr/>
      <dgm:t>
        <a:bodyPr/>
        <a:lstStyle/>
        <a:p>
          <a:r>
            <a:rPr lang="en-US"/>
            <a:t>Inheritance</a:t>
          </a:r>
        </a:p>
      </dgm:t>
    </dgm:pt>
    <dgm:pt modelId="{27E2E115-F7C6-4BB1-98FB-65B50B8626EB}" type="parTrans" cxnId="{7024CADD-5BC0-4F18-8539-956F9D4EAB47}">
      <dgm:prSet/>
      <dgm:spPr/>
      <dgm:t>
        <a:bodyPr/>
        <a:lstStyle/>
        <a:p>
          <a:endParaRPr lang="en-US"/>
        </a:p>
      </dgm:t>
    </dgm:pt>
    <dgm:pt modelId="{3AE9C0A5-8DB9-41B6-B456-AAF73CD9EBDB}" type="sibTrans" cxnId="{7024CADD-5BC0-4F18-8539-956F9D4EAB47}">
      <dgm:prSet/>
      <dgm:spPr/>
      <dgm:t>
        <a:bodyPr/>
        <a:lstStyle/>
        <a:p>
          <a:endParaRPr lang="en-US"/>
        </a:p>
      </dgm:t>
    </dgm:pt>
    <dgm:pt modelId="{977A95DD-DBF4-462F-88D4-7FD3C6B1D05B}" type="pres">
      <dgm:prSet presAssocID="{B3A0749A-E114-40DB-8C93-0440F6198C9F}" presName="linear" presStyleCnt="0">
        <dgm:presLayoutVars>
          <dgm:animLvl val="lvl"/>
          <dgm:resizeHandles val="exact"/>
        </dgm:presLayoutVars>
      </dgm:prSet>
      <dgm:spPr/>
    </dgm:pt>
    <dgm:pt modelId="{BE6744F8-A098-4F7F-B384-5B41602ED5CD}" type="pres">
      <dgm:prSet presAssocID="{F258C976-17BD-43E2-9EA8-9748212BA5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C1B5EB-9F84-4CBC-AE81-95508CA33478}" type="pres">
      <dgm:prSet presAssocID="{F258C976-17BD-43E2-9EA8-9748212BA59A}" presName="childText" presStyleLbl="revTx" presStyleIdx="0" presStyleCnt="2">
        <dgm:presLayoutVars>
          <dgm:bulletEnabled val="1"/>
        </dgm:presLayoutVars>
      </dgm:prSet>
      <dgm:spPr/>
    </dgm:pt>
    <dgm:pt modelId="{AC136CF5-A57D-47DD-91ED-C54C2418A83A}" type="pres">
      <dgm:prSet presAssocID="{CC7EDB1C-ED12-46EB-8BC9-B6A83DDB29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76A56E-7C1E-4967-A210-7712DD306D46}" type="pres">
      <dgm:prSet presAssocID="{CC7EDB1C-ED12-46EB-8BC9-B6A83DDB29A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27FEE29-E7FC-470C-8E9E-3CFEF95B1B70}" type="presOf" srcId="{F258C976-17BD-43E2-9EA8-9748212BA59A}" destId="{BE6744F8-A098-4F7F-B384-5B41602ED5CD}" srcOrd="0" destOrd="0" presId="urn:microsoft.com/office/officeart/2005/8/layout/vList2"/>
    <dgm:cxn modelId="{D146996A-B513-48DD-9A9E-DE7050F9EEA0}" type="presOf" srcId="{141218BA-955A-4281-95E2-8975ED88D35E}" destId="{21C1B5EB-9F84-4CBC-AE81-95508CA33478}" srcOrd="0" destOrd="0" presId="urn:microsoft.com/office/officeart/2005/8/layout/vList2"/>
    <dgm:cxn modelId="{CF4D4C6B-8CAF-4176-AA56-6EF5DAFD5A72}" type="presOf" srcId="{B3A0749A-E114-40DB-8C93-0440F6198C9F}" destId="{977A95DD-DBF4-462F-88D4-7FD3C6B1D05B}" srcOrd="0" destOrd="0" presId="urn:microsoft.com/office/officeart/2005/8/layout/vList2"/>
    <dgm:cxn modelId="{1E57C44C-236A-498E-ADA8-579FB8128A85}" srcId="{B3A0749A-E114-40DB-8C93-0440F6198C9F}" destId="{F258C976-17BD-43E2-9EA8-9748212BA59A}" srcOrd="0" destOrd="0" parTransId="{FA2267FD-F31C-4453-9FDB-3177DBF41302}" sibTransId="{5E85CF6D-0647-46E4-92E7-DD0BC17764C9}"/>
    <dgm:cxn modelId="{E2C8EF6E-F062-4345-AC66-34D914AF851F}" srcId="{F258C976-17BD-43E2-9EA8-9748212BA59A}" destId="{141218BA-955A-4281-95E2-8975ED88D35E}" srcOrd="0" destOrd="0" parTransId="{BBB8E552-02E1-4E74-AF33-19C2BCBE0BED}" sibTransId="{1F59CFA2-A755-4A5E-BBE7-6D018001366A}"/>
    <dgm:cxn modelId="{B68D6050-CBB0-425C-9EE9-43989C929AAA}" type="presOf" srcId="{C5055084-2878-478A-BF72-932DC1AE5862}" destId="{0476A56E-7C1E-4967-A210-7712DD306D46}" srcOrd="0" destOrd="0" presId="urn:microsoft.com/office/officeart/2005/8/layout/vList2"/>
    <dgm:cxn modelId="{885BDC50-F2EB-43EB-9A15-086DD443B015}" type="presOf" srcId="{AD27C8E3-58CB-41B3-837D-DC4B219ADA54}" destId="{0476A56E-7C1E-4967-A210-7712DD306D46}" srcOrd="0" destOrd="3" presId="urn:microsoft.com/office/officeart/2005/8/layout/vList2"/>
    <dgm:cxn modelId="{946E3E75-9899-457F-8881-8DB8F2A89B63}" srcId="{B3A0749A-E114-40DB-8C93-0440F6198C9F}" destId="{CC7EDB1C-ED12-46EB-8BC9-B6A83DDB29A3}" srcOrd="1" destOrd="0" parTransId="{E85C10B8-FD9E-4AB5-BFAC-31ACEE18A0CE}" sibTransId="{E2E07BDA-BB8D-414B-9B06-FF4F66CB83AB}"/>
    <dgm:cxn modelId="{47337987-31B7-4006-AA8F-365791AA4540}" type="presOf" srcId="{C7E36837-DCEE-407B-8645-93127BD635A2}" destId="{0476A56E-7C1E-4967-A210-7712DD306D46}" srcOrd="0" destOrd="2" presId="urn:microsoft.com/office/officeart/2005/8/layout/vList2"/>
    <dgm:cxn modelId="{A9854692-19BC-48B8-8979-18FCDF372FCC}" srcId="{CC7EDB1C-ED12-46EB-8BC9-B6A83DDB29A3}" destId="{C5055084-2878-478A-BF72-932DC1AE5862}" srcOrd="0" destOrd="0" parTransId="{02B94701-BB3C-4E12-A64D-FA5BEBE8EC9D}" sibTransId="{6EA1890C-61C1-41BD-A5C9-3AD3C46454CE}"/>
    <dgm:cxn modelId="{8BDF5CA6-81C3-47B1-BA71-10A5EB61099F}" type="presOf" srcId="{B153E446-520D-42EE-BA76-6A0581D54DFD}" destId="{0476A56E-7C1E-4967-A210-7712DD306D46}" srcOrd="0" destOrd="1" presId="urn:microsoft.com/office/officeart/2005/8/layout/vList2"/>
    <dgm:cxn modelId="{7E80AEAB-15B3-4D8E-B2AA-6C3B0A124283}" srcId="{CC7EDB1C-ED12-46EB-8BC9-B6A83DDB29A3}" destId="{B153E446-520D-42EE-BA76-6A0581D54DFD}" srcOrd="1" destOrd="0" parTransId="{9740215D-53A4-4654-B4EA-B9FC655A7F59}" sibTransId="{2B7E40BB-399E-4B6A-89D0-E0FA9A0A2844}"/>
    <dgm:cxn modelId="{7024CADD-5BC0-4F18-8539-956F9D4EAB47}" srcId="{CC7EDB1C-ED12-46EB-8BC9-B6A83DDB29A3}" destId="{AD27C8E3-58CB-41B3-837D-DC4B219ADA54}" srcOrd="3" destOrd="0" parTransId="{27E2E115-F7C6-4BB1-98FB-65B50B8626EB}" sibTransId="{3AE9C0A5-8DB9-41B6-B456-AAF73CD9EBDB}"/>
    <dgm:cxn modelId="{81783DE4-4128-436D-9D7B-5278C42FFBF1}" type="presOf" srcId="{CC7EDB1C-ED12-46EB-8BC9-B6A83DDB29A3}" destId="{AC136CF5-A57D-47DD-91ED-C54C2418A83A}" srcOrd="0" destOrd="0" presId="urn:microsoft.com/office/officeart/2005/8/layout/vList2"/>
    <dgm:cxn modelId="{3A8629EC-FC80-4622-81F7-4087E9772CA4}" srcId="{CC7EDB1C-ED12-46EB-8BC9-B6A83DDB29A3}" destId="{C7E36837-DCEE-407B-8645-93127BD635A2}" srcOrd="2" destOrd="0" parTransId="{7EDA3396-D506-404C-BEA5-2A06C2C9B39C}" sibTransId="{3F3FA1CE-7805-47A2-B933-F33F908A8CCB}"/>
    <dgm:cxn modelId="{CABA3885-4E8C-40CD-A75C-B119EBB90CBA}" type="presParOf" srcId="{977A95DD-DBF4-462F-88D4-7FD3C6B1D05B}" destId="{BE6744F8-A098-4F7F-B384-5B41602ED5CD}" srcOrd="0" destOrd="0" presId="urn:microsoft.com/office/officeart/2005/8/layout/vList2"/>
    <dgm:cxn modelId="{726C0A7F-78B3-408A-A070-4A897E923412}" type="presParOf" srcId="{977A95DD-DBF4-462F-88D4-7FD3C6B1D05B}" destId="{21C1B5EB-9F84-4CBC-AE81-95508CA33478}" srcOrd="1" destOrd="0" presId="urn:microsoft.com/office/officeart/2005/8/layout/vList2"/>
    <dgm:cxn modelId="{DD0A5A0D-3DEF-43F7-88EE-BC3DF33BB1AF}" type="presParOf" srcId="{977A95DD-DBF4-462F-88D4-7FD3C6B1D05B}" destId="{AC136CF5-A57D-47DD-91ED-C54C2418A83A}" srcOrd="2" destOrd="0" presId="urn:microsoft.com/office/officeart/2005/8/layout/vList2"/>
    <dgm:cxn modelId="{B87EDDBB-161C-42D1-997C-662FED239B4C}" type="presParOf" srcId="{977A95DD-DBF4-462F-88D4-7FD3C6B1D05B}" destId="{0476A56E-7C1E-4967-A210-7712DD306D4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744F8-A098-4F7F-B384-5B41602ED5CD}">
      <dsp:nvSpPr>
        <dsp:cNvPr id="0" name=""/>
        <dsp:cNvSpPr/>
      </dsp:nvSpPr>
      <dsp:spPr>
        <a:xfrm>
          <a:off x="0" y="41940"/>
          <a:ext cx="10773832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Class and attributes</a:t>
          </a:r>
        </a:p>
      </dsp:txBody>
      <dsp:txXfrm>
        <a:off x="56201" y="98141"/>
        <a:ext cx="10661430" cy="1038877"/>
      </dsp:txXfrm>
    </dsp:sp>
    <dsp:sp modelId="{21C1B5EB-9F84-4CBC-AE81-95508CA33478}">
      <dsp:nvSpPr>
        <dsp:cNvPr id="0" name=""/>
        <dsp:cNvSpPr/>
      </dsp:nvSpPr>
      <dsp:spPr>
        <a:xfrm>
          <a:off x="0" y="1193219"/>
          <a:ext cx="10773832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069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Similar to struct and fields in a struct</a:t>
          </a:r>
        </a:p>
      </dsp:txBody>
      <dsp:txXfrm>
        <a:off x="0" y="1193219"/>
        <a:ext cx="10773832" cy="794880"/>
      </dsp:txXfrm>
    </dsp:sp>
    <dsp:sp modelId="{AC136CF5-A57D-47DD-91ED-C54C2418A83A}">
      <dsp:nvSpPr>
        <dsp:cNvPr id="0" name=""/>
        <dsp:cNvSpPr/>
      </dsp:nvSpPr>
      <dsp:spPr>
        <a:xfrm>
          <a:off x="0" y="1988099"/>
          <a:ext cx="10773832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Relationships</a:t>
          </a:r>
        </a:p>
      </dsp:txBody>
      <dsp:txXfrm>
        <a:off x="56201" y="2044300"/>
        <a:ext cx="10661430" cy="1038877"/>
      </dsp:txXfrm>
    </dsp:sp>
    <dsp:sp modelId="{0476A56E-7C1E-4967-A210-7712DD306D46}">
      <dsp:nvSpPr>
        <dsp:cNvPr id="0" name=""/>
        <dsp:cNvSpPr/>
      </dsp:nvSpPr>
      <dsp:spPr>
        <a:xfrm>
          <a:off x="0" y="3139379"/>
          <a:ext cx="10773832" cy="253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069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Association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Aggregation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Composition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Inheritance</a:t>
          </a:r>
        </a:p>
      </dsp:txBody>
      <dsp:txXfrm>
        <a:off x="0" y="3139379"/>
        <a:ext cx="10773832" cy="253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0"/>
            <a:ext cx="12192000" cy="10668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" name="Picture 13" descr="iiit-b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33350"/>
            <a:ext cx="1676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644776"/>
            <a:ext cx="121920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="1">
                <a:solidFill>
                  <a:srgbClr val="CC0000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4495800"/>
            <a:ext cx="8534400" cy="1447800"/>
          </a:xfrm>
        </p:spPr>
        <p:txBody>
          <a:bodyPr/>
          <a:lstStyle>
            <a:lvl1pPr marL="0" indent="0" algn="r">
              <a:buFontTx/>
              <a:buNone/>
              <a:defRPr sz="2400" i="1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F88EA2-3CD5-422E-B859-4DAA091D4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5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3C4DD-33DA-46C5-9EA2-1A5762B69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1AEA-F49B-48E2-8787-2AC81B160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1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A2CE8-4E19-4D50-B3C9-541F314045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159A4-3E3D-4CB6-BBBE-4D22BFA00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6E345-B548-4BB3-BB83-C5CB44AD0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5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B6D45-D34F-464F-A77A-13A2C127C7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45A23-B1DE-482D-BC87-D2B7D2F4B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2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14370-7F09-4FE8-A09E-72D62840B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5379E-9849-43CB-90C9-1CD0AB66B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1"/>
            <a:ext cx="28956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"/>
            <a:ext cx="8483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D400C-3E41-4565-A41F-7A0F31EBA5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9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1"/>
            <a:ext cx="10773833" cy="822325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1"/>
            <a:ext cx="109728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pitchFamily="34" charset="0"/>
              </a:defRPr>
            </a:lvl1pPr>
          </a:lstStyle>
          <a:p>
            <a:pPr>
              <a:defRPr/>
            </a:pPr>
            <a:fld id="{C8EE9E87-36FC-4CAE-AE02-CC87DCF3E3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17"/>
          <p:cNvGrpSpPr>
            <a:grpSpLocks/>
          </p:cNvGrpSpPr>
          <p:nvPr/>
        </p:nvGrpSpPr>
        <p:grpSpPr bwMode="auto">
          <a:xfrm>
            <a:off x="10769600" y="1"/>
            <a:ext cx="1422400" cy="822325"/>
            <a:chOff x="3552" y="1776"/>
            <a:chExt cx="960" cy="720"/>
          </a:xfrm>
        </p:grpSpPr>
        <p:sp>
          <p:nvSpPr>
            <p:cNvPr id="1032" name="Rectangle 16"/>
            <p:cNvSpPr>
              <a:spLocks noChangeArrowheads="1"/>
            </p:cNvSpPr>
            <p:nvPr userDrawn="1"/>
          </p:nvSpPr>
          <p:spPr bwMode="auto">
            <a:xfrm>
              <a:off x="3552" y="1776"/>
              <a:ext cx="960" cy="72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033" name="Picture 15" descr="iiit-b_logo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1872"/>
              <a:ext cx="792" cy="54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99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66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en.wikipedia.org/wiki/File:UML_Diagrams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creately.com/blog/wp-content/uploads/2012/01/UML-Diagram-Types.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UML Class Diagrams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1910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Database System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Using UML for database design</a:t>
            </a:r>
          </a:p>
          <a:p>
            <a:pPr eaLnBrk="1" hangingPunct="1"/>
            <a:r>
              <a:rPr lang="en-US" altLang="en-US" dirty="0"/>
              <a:t>UML notations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upload.wikimedia.org/wikipedia/commons/thumb/8/81/UML_Diagrams.jpg/320px-UML_Diagrams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553" y="990600"/>
            <a:ext cx="9059956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Components</a:t>
            </a:r>
          </a:p>
        </p:txBody>
      </p:sp>
      <p:pic>
        <p:nvPicPr>
          <p:cNvPr id="10244" name="Picture 4" descr="UML Diagram Types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935736"/>
            <a:ext cx="7772400" cy="54924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sp>
        <p:nvSpPr>
          <p:cNvPr id="5" name="Oval 4"/>
          <p:cNvSpPr/>
          <p:nvPr/>
        </p:nvSpPr>
        <p:spPr>
          <a:xfrm>
            <a:off x="4572001" y="3681984"/>
            <a:ext cx="1468531" cy="134721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5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E29436-E2F1-4247-83F7-A7E766D9C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251423"/>
              </p:ext>
            </p:extLst>
          </p:nvPr>
        </p:nvGraphicFramePr>
        <p:xfrm>
          <a:off x="685800" y="914400"/>
          <a:ext cx="10773832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291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attributes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752600" y="1981200"/>
            <a:ext cx="3200400" cy="3352800"/>
            <a:chOff x="720" y="1200"/>
            <a:chExt cx="1200" cy="1056"/>
          </a:xfrm>
          <a:solidFill>
            <a:srgbClr val="99FFCC"/>
          </a:solidFill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/>
                <a:t>Course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800"/>
                <a:t>Course_name</a:t>
              </a:r>
            </a:p>
            <a:p>
              <a:pPr eaLnBrk="1" hangingPunct="1"/>
              <a:r>
                <a:rPr lang="en-US" altLang="en-US" sz="2800"/>
                <a:t>Class_room</a:t>
              </a:r>
            </a:p>
            <a:p>
              <a:pPr eaLnBrk="1" hangingPunct="1"/>
              <a:r>
                <a:rPr lang="en-US" altLang="en-US" sz="2800"/>
                <a:t>Course_credits</a:t>
              </a:r>
            </a:p>
            <a:p>
              <a:pPr eaLnBrk="1" hangingPunct="1"/>
              <a:endParaRPr lang="en-US" altLang="en-US" sz="28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557280" y="2133601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Class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1" y="3118367"/>
            <a:ext cx="191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Attributes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029200" y="2425987"/>
            <a:ext cx="22098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029200" y="3093253"/>
            <a:ext cx="22098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029200" y="3505200"/>
            <a:ext cx="22098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029200" y="3886200"/>
            <a:ext cx="22098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7180" y="4602540"/>
            <a:ext cx="4624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Generally no methods in conceptual database designs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types may be added as part of refinement</a:t>
            </a:r>
          </a:p>
        </p:txBody>
      </p:sp>
    </p:spTree>
    <p:extLst>
      <p:ext uri="{BB962C8B-B14F-4D97-AF65-F5344CB8AC3E}">
        <p14:creationId xmlns:p14="http://schemas.microsoft.com/office/powerpoint/2010/main" val="267896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6424" y="838201"/>
            <a:ext cx="3419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Association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4314" y="5868838"/>
            <a:ext cx="3986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Role name (optional)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719660" y="4148554"/>
            <a:ext cx="1096427" cy="156193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6518306" y="4148555"/>
            <a:ext cx="644494" cy="1642647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3"/>
          <p:cNvGrpSpPr>
            <a:grpSpLocks/>
          </p:cNvGrpSpPr>
          <p:nvPr/>
        </p:nvGrpSpPr>
        <p:grpSpPr bwMode="auto">
          <a:xfrm>
            <a:off x="1676401" y="2743200"/>
            <a:ext cx="2678113" cy="1676400"/>
            <a:chOff x="720" y="1200"/>
            <a:chExt cx="1200" cy="1056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Course</a:t>
              </a: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Course_name</a:t>
              </a:r>
            </a:p>
            <a:p>
              <a:pPr eaLnBrk="1" hangingPunct="1"/>
              <a:r>
                <a:rPr lang="en-US" altLang="en-US" sz="2400"/>
                <a:t>Class_room</a:t>
              </a:r>
            </a:p>
            <a:p>
              <a:pPr eaLnBrk="1" hangingPunct="1"/>
              <a:r>
                <a:rPr lang="en-US" altLang="en-US" sz="2400"/>
                <a:t>Course_credits</a:t>
              </a:r>
            </a:p>
            <a:p>
              <a:pPr eaLnBrk="1" hangingPunct="1"/>
              <a:endParaRPr lang="en-US" altLang="en-US" sz="2400"/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6999288" y="2743200"/>
            <a:ext cx="2678113" cy="1676400"/>
            <a:chOff x="720" y="1200"/>
            <a:chExt cx="1200" cy="1056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Instructor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Instr_name</a:t>
              </a:r>
            </a:p>
            <a:p>
              <a:pPr eaLnBrk="1" hangingPunct="1"/>
              <a:r>
                <a:rPr lang="en-US" altLang="en-US" sz="2400"/>
                <a:t>Office</a:t>
              </a:r>
            </a:p>
            <a:p>
              <a:pPr eaLnBrk="1" hangingPunct="1"/>
              <a:r>
                <a:rPr lang="en-US" altLang="en-US" sz="2400"/>
                <a:t>e_mail</a:t>
              </a:r>
            </a:p>
            <a:p>
              <a:pPr eaLnBrk="1" hangingPunct="1"/>
              <a:endParaRPr lang="en-US" altLang="en-US" sz="2400"/>
            </a:p>
          </p:txBody>
        </p:sp>
      </p:grpSp>
      <p:cxnSp>
        <p:nvCxnSpPr>
          <p:cNvPr id="24" name="AutoShape 27"/>
          <p:cNvCxnSpPr>
            <a:cxnSpLocks noChangeShapeType="1"/>
            <a:stCxn id="23" idx="1"/>
            <a:endCxn id="20" idx="3"/>
          </p:cNvCxnSpPr>
          <p:nvPr/>
        </p:nvCxnSpPr>
        <p:spPr bwMode="auto">
          <a:xfrm flipH="1">
            <a:off x="4354513" y="3771900"/>
            <a:ext cx="264477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5668004" y="4002640"/>
            <a:ext cx="1341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dirty="0"/>
              <a:t>teacher</a:t>
            </a:r>
          </a:p>
        </p:txBody>
      </p:sp>
      <p:sp>
        <p:nvSpPr>
          <p:cNvPr id="26" name="Text Box 43"/>
          <p:cNvSpPr txBox="1">
            <a:spLocks noChangeArrowheads="1"/>
          </p:cNvSpPr>
          <p:nvPr/>
        </p:nvSpPr>
        <p:spPr bwMode="auto">
          <a:xfrm>
            <a:off x="4613579" y="3352800"/>
            <a:ext cx="2130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 err="1"/>
              <a:t>Courses_taught</a:t>
            </a:r>
            <a:endParaRPr lang="en-US" altLang="en-US" sz="2000" dirty="0"/>
          </a:p>
        </p:txBody>
      </p:sp>
      <p:sp>
        <p:nvSpPr>
          <p:cNvPr id="29" name="Text Box 51"/>
          <p:cNvSpPr txBox="1">
            <a:spLocks noChangeArrowheads="1"/>
          </p:cNvSpPr>
          <p:nvPr/>
        </p:nvSpPr>
        <p:spPr bwMode="auto">
          <a:xfrm>
            <a:off x="4324269" y="3486999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n</a:t>
            </a:r>
          </a:p>
        </p:txBody>
      </p:sp>
      <p:sp>
        <p:nvSpPr>
          <p:cNvPr id="30" name="Text Box 52"/>
          <p:cNvSpPr txBox="1">
            <a:spLocks noChangeArrowheads="1"/>
          </p:cNvSpPr>
          <p:nvPr/>
        </p:nvSpPr>
        <p:spPr bwMode="auto">
          <a:xfrm>
            <a:off x="6098694" y="3505200"/>
            <a:ext cx="41961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/>
              <a:t>1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616187" y="1676400"/>
            <a:ext cx="0" cy="167640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27108" y="5780514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Cardinality</a:t>
            </a:r>
          </a:p>
        </p:txBody>
      </p:sp>
      <p:sp>
        <p:nvSpPr>
          <p:cNvPr id="27" name="Text Box 51">
            <a:extLst>
              <a:ext uri="{FF2B5EF4-FFF2-40B4-BE49-F238E27FC236}">
                <a16:creationId xmlns:a16="http://schemas.microsoft.com/office/drawing/2014/main" id="{8BFD86E2-739F-4267-918E-0BC0239C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051" y="3433346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558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cardinality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One-to-one (written as 1:1)</a:t>
            </a:r>
          </a:p>
          <a:p>
            <a:r>
              <a:rPr lang="en-US" dirty="0"/>
              <a:t>One-to-Many (written as 1:n)</a:t>
            </a:r>
          </a:p>
          <a:p>
            <a:r>
              <a:rPr lang="en-US" dirty="0"/>
              <a:t>Many-to-Many (written as m:n)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676401" y="3657600"/>
            <a:ext cx="2678113" cy="1676400"/>
            <a:chOff x="720" y="1200"/>
            <a:chExt cx="1200" cy="1056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Course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Course_name</a:t>
              </a:r>
            </a:p>
            <a:p>
              <a:pPr eaLnBrk="1" hangingPunct="1"/>
              <a:r>
                <a:rPr lang="en-US" altLang="en-US" sz="2400"/>
                <a:t>Class_room</a:t>
              </a:r>
            </a:p>
            <a:p>
              <a:pPr eaLnBrk="1" hangingPunct="1"/>
              <a:r>
                <a:rPr lang="en-US" altLang="en-US" sz="2400"/>
                <a:t>Course_credits</a:t>
              </a:r>
            </a:p>
            <a:p>
              <a:pPr eaLnBrk="1" hangingPunct="1"/>
              <a:endParaRPr lang="en-US" altLang="en-US" sz="2400"/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6999288" y="3657600"/>
            <a:ext cx="2678113" cy="1676400"/>
            <a:chOff x="720" y="1200"/>
            <a:chExt cx="1200" cy="1056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Instructor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Instr_name</a:t>
              </a:r>
            </a:p>
            <a:p>
              <a:pPr eaLnBrk="1" hangingPunct="1"/>
              <a:r>
                <a:rPr lang="en-US" altLang="en-US" sz="2400"/>
                <a:t>Office</a:t>
              </a:r>
            </a:p>
            <a:p>
              <a:pPr eaLnBrk="1" hangingPunct="1"/>
              <a:r>
                <a:rPr lang="en-US" altLang="en-US" sz="2400"/>
                <a:t>e_mail</a:t>
              </a:r>
            </a:p>
            <a:p>
              <a:pPr eaLnBrk="1" hangingPunct="1"/>
              <a:endParaRPr lang="en-US" altLang="en-US" sz="2400"/>
            </a:p>
          </p:txBody>
        </p:sp>
      </p:grpSp>
      <p:cxnSp>
        <p:nvCxnSpPr>
          <p:cNvPr id="11" name="AutoShape 27"/>
          <p:cNvCxnSpPr>
            <a:cxnSpLocks noChangeShapeType="1"/>
            <a:stCxn id="10" idx="1"/>
            <a:endCxn id="7" idx="3"/>
          </p:cNvCxnSpPr>
          <p:nvPr/>
        </p:nvCxnSpPr>
        <p:spPr bwMode="auto">
          <a:xfrm flipH="1">
            <a:off x="4354513" y="4686300"/>
            <a:ext cx="264477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5669084" y="4648200"/>
            <a:ext cx="1341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dirty="0"/>
              <a:t>teacher</a:t>
            </a:r>
          </a:p>
        </p:txBody>
      </p:sp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4613579" y="4267200"/>
            <a:ext cx="2130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 err="1"/>
              <a:t>Courses_taught</a:t>
            </a:r>
            <a:endParaRPr lang="en-US" altLang="en-US" sz="2000" dirty="0"/>
          </a:p>
        </p:txBody>
      </p:sp>
      <p:sp>
        <p:nvSpPr>
          <p:cNvPr id="15" name="Text Box 52"/>
          <p:cNvSpPr txBox="1">
            <a:spLocks noChangeArrowheads="1"/>
          </p:cNvSpPr>
          <p:nvPr/>
        </p:nvSpPr>
        <p:spPr bwMode="auto">
          <a:xfrm>
            <a:off x="6098694" y="4419600"/>
            <a:ext cx="41961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8884" y="5803317"/>
            <a:ext cx="9134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is the interpretation of various cardinalities?</a:t>
            </a:r>
          </a:p>
        </p:txBody>
      </p:sp>
    </p:spTree>
    <p:extLst>
      <p:ext uri="{BB962C8B-B14F-4D97-AF65-F5344CB8AC3E}">
        <p14:creationId xmlns:p14="http://schemas.microsoft.com/office/powerpoint/2010/main" val="15778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(written as 1:1)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63713" y="2209800"/>
            <a:ext cx="2678113" cy="1676400"/>
            <a:chOff x="720" y="1200"/>
            <a:chExt cx="1200" cy="1056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Course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 dirty="0" err="1"/>
                <a:t>Course_name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Class_room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Course_credits</a:t>
              </a:r>
              <a:endParaRPr lang="en-US" altLang="en-US" sz="2400" dirty="0"/>
            </a:p>
            <a:p>
              <a:pPr eaLnBrk="1" hangingPunct="1"/>
              <a:endParaRPr lang="en-US" altLang="en-US" sz="2400" dirty="0"/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7086600" y="2209800"/>
            <a:ext cx="2678113" cy="1676400"/>
            <a:chOff x="720" y="1200"/>
            <a:chExt cx="1200" cy="1056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Instructor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Instr_name</a:t>
              </a:r>
            </a:p>
            <a:p>
              <a:pPr eaLnBrk="1" hangingPunct="1"/>
              <a:r>
                <a:rPr lang="en-US" altLang="en-US" sz="2400"/>
                <a:t>Office</a:t>
              </a:r>
            </a:p>
            <a:p>
              <a:pPr eaLnBrk="1" hangingPunct="1"/>
              <a:r>
                <a:rPr lang="en-US" altLang="en-US" sz="2400"/>
                <a:t>e_mail</a:t>
              </a:r>
            </a:p>
            <a:p>
              <a:pPr eaLnBrk="1" hangingPunct="1"/>
              <a:endParaRPr lang="en-US" altLang="en-US" sz="2400"/>
            </a:p>
          </p:txBody>
        </p:sp>
      </p:grpSp>
      <p:cxnSp>
        <p:nvCxnSpPr>
          <p:cNvPr id="11" name="AutoShape 27"/>
          <p:cNvCxnSpPr>
            <a:cxnSpLocks noChangeShapeType="1"/>
            <a:stCxn id="10" idx="1"/>
            <a:endCxn id="7" idx="3"/>
          </p:cNvCxnSpPr>
          <p:nvPr/>
        </p:nvCxnSpPr>
        <p:spPr bwMode="auto">
          <a:xfrm flipH="1">
            <a:off x="4441825" y="3238500"/>
            <a:ext cx="264477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5756396" y="3200400"/>
            <a:ext cx="1341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dirty="0"/>
              <a:t>teacher</a:t>
            </a:r>
          </a:p>
        </p:txBody>
      </p:sp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4700891" y="2819400"/>
            <a:ext cx="2130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 err="1"/>
              <a:t>Courses_taught</a:t>
            </a:r>
            <a:endParaRPr lang="en-US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066800" y="4484176"/>
            <a:ext cx="79395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two sentence rule:</a:t>
            </a:r>
          </a:p>
          <a:p>
            <a:r>
              <a:rPr lang="en-US" sz="3200" dirty="0"/>
              <a:t>EVERY course is taught by </a:t>
            </a:r>
            <a:r>
              <a:rPr lang="en-US" sz="3200" b="1" dirty="0"/>
              <a:t>ONE</a:t>
            </a:r>
            <a:r>
              <a:rPr lang="en-US" sz="3200" dirty="0"/>
              <a:t> Instructor</a:t>
            </a:r>
          </a:p>
          <a:p>
            <a:r>
              <a:rPr lang="en-US" sz="3200" dirty="0"/>
              <a:t>EVERY Instructor teaches </a:t>
            </a:r>
            <a:r>
              <a:rPr lang="en-US" sz="3200" b="1" dirty="0"/>
              <a:t>ONE</a:t>
            </a:r>
            <a:r>
              <a:rPr lang="en-US" sz="3200" dirty="0"/>
              <a:t> Course</a:t>
            </a: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5E1FCB19-D068-47F3-97B2-7C49E271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949253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1</a:t>
            </a:r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C7E015D5-E423-449E-ACA5-7E7043F03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582" y="2895600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734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(written as 1:n)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63713" y="2209800"/>
            <a:ext cx="2678113" cy="1676400"/>
            <a:chOff x="720" y="1200"/>
            <a:chExt cx="1200" cy="1056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Course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 dirty="0" err="1"/>
                <a:t>Course_name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Class_room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Course_credits</a:t>
              </a:r>
              <a:endParaRPr lang="en-US" altLang="en-US" sz="2400" dirty="0"/>
            </a:p>
            <a:p>
              <a:pPr eaLnBrk="1" hangingPunct="1"/>
              <a:endParaRPr lang="en-US" altLang="en-US" sz="2400" dirty="0"/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7086600" y="2209800"/>
            <a:ext cx="2678113" cy="1676400"/>
            <a:chOff x="720" y="1200"/>
            <a:chExt cx="1200" cy="1056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Instructor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Instr_name</a:t>
              </a:r>
            </a:p>
            <a:p>
              <a:pPr eaLnBrk="1" hangingPunct="1"/>
              <a:r>
                <a:rPr lang="en-US" altLang="en-US" sz="2400"/>
                <a:t>Office</a:t>
              </a:r>
            </a:p>
            <a:p>
              <a:pPr eaLnBrk="1" hangingPunct="1"/>
              <a:r>
                <a:rPr lang="en-US" altLang="en-US" sz="2400"/>
                <a:t>e_mail</a:t>
              </a:r>
            </a:p>
            <a:p>
              <a:pPr eaLnBrk="1" hangingPunct="1"/>
              <a:endParaRPr lang="en-US" altLang="en-US" sz="2400"/>
            </a:p>
          </p:txBody>
        </p:sp>
      </p:grpSp>
      <p:cxnSp>
        <p:nvCxnSpPr>
          <p:cNvPr id="11" name="AutoShape 27"/>
          <p:cNvCxnSpPr>
            <a:cxnSpLocks noChangeShapeType="1"/>
            <a:stCxn id="10" idx="1"/>
            <a:endCxn id="7" idx="3"/>
          </p:cNvCxnSpPr>
          <p:nvPr/>
        </p:nvCxnSpPr>
        <p:spPr bwMode="auto">
          <a:xfrm flipH="1">
            <a:off x="4441825" y="3238500"/>
            <a:ext cx="264477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5756396" y="3200400"/>
            <a:ext cx="1341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dirty="0"/>
              <a:t>teacher</a:t>
            </a:r>
          </a:p>
        </p:txBody>
      </p:sp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4700891" y="2819400"/>
            <a:ext cx="2130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 err="1"/>
              <a:t>Courses_taught</a:t>
            </a:r>
            <a:endParaRPr lang="en-US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066800" y="4484176"/>
            <a:ext cx="84637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two sentence rule:</a:t>
            </a:r>
          </a:p>
          <a:p>
            <a:r>
              <a:rPr lang="en-US" sz="3200" dirty="0"/>
              <a:t>EVERY course is taught by </a:t>
            </a:r>
            <a:r>
              <a:rPr lang="en-US" sz="3200" b="1" dirty="0"/>
              <a:t>MANY</a:t>
            </a:r>
            <a:r>
              <a:rPr lang="en-US" sz="3200" dirty="0"/>
              <a:t> Instructors</a:t>
            </a:r>
          </a:p>
          <a:p>
            <a:r>
              <a:rPr lang="en-US" sz="3200" dirty="0"/>
              <a:t>EVERY Instructor teaches </a:t>
            </a:r>
            <a:r>
              <a:rPr lang="en-US" sz="3200" b="1" dirty="0"/>
              <a:t>ONE</a:t>
            </a:r>
            <a:r>
              <a:rPr lang="en-US" sz="3200" dirty="0"/>
              <a:t> Course</a:t>
            </a: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5E1FCB19-D068-47F3-97B2-7C49E271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949253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1</a:t>
            </a:r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C7E015D5-E423-449E-ACA5-7E7043F03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582" y="2895600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1339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Many-to-one (written as n:1)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63713" y="2209800"/>
            <a:ext cx="2678113" cy="1676400"/>
            <a:chOff x="720" y="1200"/>
            <a:chExt cx="1200" cy="1056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Course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 dirty="0" err="1"/>
                <a:t>Course_name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Class_room</a:t>
              </a:r>
              <a:endParaRPr lang="en-US" altLang="en-US" sz="2400" dirty="0"/>
            </a:p>
            <a:p>
              <a:pPr eaLnBrk="1" hangingPunct="1"/>
              <a:r>
                <a:rPr lang="en-US" altLang="en-US" sz="2400" dirty="0" err="1"/>
                <a:t>Course_credits</a:t>
              </a:r>
              <a:endParaRPr lang="en-US" altLang="en-US" sz="2400" dirty="0"/>
            </a:p>
            <a:p>
              <a:pPr eaLnBrk="1" hangingPunct="1"/>
              <a:endParaRPr lang="en-US" altLang="en-US" sz="2400" dirty="0"/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7086600" y="2209800"/>
            <a:ext cx="2678113" cy="1676400"/>
            <a:chOff x="720" y="1200"/>
            <a:chExt cx="1200" cy="1056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400"/>
                <a:t>Instructor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/>
                <a:t>Instr_name</a:t>
              </a:r>
            </a:p>
            <a:p>
              <a:pPr eaLnBrk="1" hangingPunct="1"/>
              <a:r>
                <a:rPr lang="en-US" altLang="en-US" sz="2400"/>
                <a:t>Office</a:t>
              </a:r>
            </a:p>
            <a:p>
              <a:pPr eaLnBrk="1" hangingPunct="1"/>
              <a:r>
                <a:rPr lang="en-US" altLang="en-US" sz="2400"/>
                <a:t>e_mail</a:t>
              </a:r>
            </a:p>
            <a:p>
              <a:pPr eaLnBrk="1" hangingPunct="1"/>
              <a:endParaRPr lang="en-US" altLang="en-US" sz="2400"/>
            </a:p>
          </p:txBody>
        </p:sp>
      </p:grpSp>
      <p:cxnSp>
        <p:nvCxnSpPr>
          <p:cNvPr id="11" name="AutoShape 27"/>
          <p:cNvCxnSpPr>
            <a:cxnSpLocks noChangeShapeType="1"/>
            <a:stCxn id="10" idx="1"/>
            <a:endCxn id="7" idx="3"/>
          </p:cNvCxnSpPr>
          <p:nvPr/>
        </p:nvCxnSpPr>
        <p:spPr bwMode="auto">
          <a:xfrm flipH="1">
            <a:off x="4441825" y="3238500"/>
            <a:ext cx="264477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42"/>
          <p:cNvSpPr txBox="1">
            <a:spLocks noChangeArrowheads="1"/>
          </p:cNvSpPr>
          <p:nvPr/>
        </p:nvSpPr>
        <p:spPr bwMode="auto">
          <a:xfrm>
            <a:off x="5756396" y="3200400"/>
            <a:ext cx="1341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dirty="0"/>
              <a:t>teacher</a:t>
            </a:r>
          </a:p>
        </p:txBody>
      </p:sp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4700891" y="2819400"/>
            <a:ext cx="2130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 err="1"/>
              <a:t>Courses_taught</a:t>
            </a:r>
            <a:endParaRPr lang="en-US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066800" y="4484176"/>
            <a:ext cx="81447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two sentence rule:</a:t>
            </a:r>
          </a:p>
          <a:p>
            <a:r>
              <a:rPr lang="en-US" sz="3200" dirty="0"/>
              <a:t>EVERY course is taught by </a:t>
            </a:r>
            <a:r>
              <a:rPr lang="en-US" sz="3200" b="1" dirty="0"/>
              <a:t>ONE</a:t>
            </a:r>
            <a:r>
              <a:rPr lang="en-US" sz="3200" dirty="0"/>
              <a:t> Instructor</a:t>
            </a:r>
          </a:p>
          <a:p>
            <a:r>
              <a:rPr lang="en-US" sz="3200" dirty="0"/>
              <a:t>EVERY Instructor teaches </a:t>
            </a:r>
            <a:r>
              <a:rPr lang="en-US" sz="3200" b="1" dirty="0"/>
              <a:t>MANY</a:t>
            </a:r>
            <a:r>
              <a:rPr lang="en-US" sz="3200" dirty="0"/>
              <a:t> Courses</a:t>
            </a: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5E1FCB19-D068-47F3-97B2-7C49E271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949253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n</a:t>
            </a:r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C7E015D5-E423-449E-ACA5-7E7043F03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582" y="2895600"/>
            <a:ext cx="3709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10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(HAS-A)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781800" y="1354138"/>
            <a:ext cx="2667000" cy="2151062"/>
            <a:chOff x="720" y="1200"/>
            <a:chExt cx="1200" cy="10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 dirty="0"/>
                <a:t>Computer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800" dirty="0" err="1"/>
                <a:t>Serial_No</a:t>
              </a:r>
              <a:endParaRPr lang="en-US" altLang="en-US" sz="2800" dirty="0"/>
            </a:p>
            <a:p>
              <a:pPr eaLnBrk="1" hangingPunct="1"/>
              <a:r>
                <a:rPr lang="en-US" altLang="en-US" sz="2800" dirty="0"/>
                <a:t>Make</a:t>
              </a:r>
            </a:p>
            <a:p>
              <a:pPr eaLnBrk="1" hangingPunct="1"/>
              <a:endParaRPr lang="en-US" altLang="en-US" sz="2800" dirty="0"/>
            </a:p>
            <a:p>
              <a:pPr eaLnBrk="1" hangingPunct="1"/>
              <a:endParaRPr lang="en-US" altLang="en-US" sz="2800" dirty="0"/>
            </a:p>
          </p:txBody>
        </p:sp>
      </p:grp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1905000" y="1658938"/>
            <a:ext cx="2362200" cy="2019481"/>
            <a:chOff x="720" y="1200"/>
            <a:chExt cx="1200" cy="1067"/>
          </a:xfrm>
        </p:grpSpPr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 dirty="0"/>
                <a:t>Peripheral</a:t>
              </a: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720" y="1451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 dirty="0" err="1"/>
                <a:t>Peripheral_name</a:t>
              </a:r>
              <a:endParaRPr lang="en-US" altLang="en-US" sz="2800" dirty="0"/>
            </a:p>
            <a:p>
              <a:pPr eaLnBrk="1" hangingPunct="1"/>
              <a:endParaRPr lang="en-US" altLang="en-US" sz="2800" dirty="0"/>
            </a:p>
          </p:txBody>
        </p:sp>
      </p:grpSp>
      <p:cxnSp>
        <p:nvCxnSpPr>
          <p:cNvPr id="10" name="AutoShape 25"/>
          <p:cNvCxnSpPr>
            <a:cxnSpLocks noChangeShapeType="1"/>
            <a:stCxn id="12" idx="1"/>
            <a:endCxn id="9" idx="3"/>
          </p:cNvCxnSpPr>
          <p:nvPr/>
        </p:nvCxnSpPr>
        <p:spPr bwMode="auto">
          <a:xfrm flipH="1">
            <a:off x="4267200" y="2553596"/>
            <a:ext cx="2095500" cy="352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4419601" y="2406652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n</a:t>
            </a:r>
          </a:p>
        </p:txBody>
      </p:sp>
      <p:sp>
        <p:nvSpPr>
          <p:cNvPr id="12" name="Diamond 11"/>
          <p:cNvSpPr/>
          <p:nvPr/>
        </p:nvSpPr>
        <p:spPr>
          <a:xfrm>
            <a:off x="6362700" y="2331208"/>
            <a:ext cx="419100" cy="444776"/>
          </a:xfrm>
          <a:prstGeom prst="diamond">
            <a:avLst/>
          </a:prstGeom>
          <a:noFill/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564314" y="5105400"/>
            <a:ext cx="30091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Parent class</a:t>
            </a:r>
          </a:p>
          <a:p>
            <a:r>
              <a:rPr lang="en-US" sz="3200" dirty="0"/>
              <a:t>Container class</a:t>
            </a:r>
          </a:p>
        </p:txBody>
      </p:sp>
      <p:cxnSp>
        <p:nvCxnSpPr>
          <p:cNvPr id="16" name="Straight Arrow Connector 15"/>
          <p:cNvCxnSpPr>
            <a:endCxn id="9" idx="2"/>
          </p:cNvCxnSpPr>
          <p:nvPr/>
        </p:nvCxnSpPr>
        <p:spPr>
          <a:xfrm flipV="1">
            <a:off x="3086100" y="3678418"/>
            <a:ext cx="0" cy="1884182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924800" y="3678419"/>
            <a:ext cx="0" cy="1251101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58808" y="5644010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Child class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314950" y="2775984"/>
            <a:ext cx="1047750" cy="1415016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2598" y="4201419"/>
            <a:ext cx="4529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Unfilled diamond placed on container class</a:t>
            </a:r>
          </a:p>
        </p:txBody>
      </p:sp>
      <p:cxnSp>
        <p:nvCxnSpPr>
          <p:cNvPr id="30" name="Straight Arrow Connector 29"/>
          <p:cNvCxnSpPr>
            <a:endCxn id="11" idx="0"/>
          </p:cNvCxnSpPr>
          <p:nvPr/>
        </p:nvCxnSpPr>
        <p:spPr>
          <a:xfrm flipH="1">
            <a:off x="4576054" y="1598578"/>
            <a:ext cx="72146" cy="808074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11806" y="914401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Cardinality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324600"/>
            <a:ext cx="41910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Computer has-a peripheral</a:t>
            </a:r>
          </a:p>
        </p:txBody>
      </p:sp>
    </p:spTree>
    <p:extLst>
      <p:ext uri="{BB962C8B-B14F-4D97-AF65-F5344CB8AC3E}">
        <p14:creationId xmlns:p14="http://schemas.microsoft.com/office/powerpoint/2010/main" val="22768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8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(HAS-A)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Aggregation is similar to association</a:t>
            </a:r>
          </a:p>
          <a:p>
            <a:r>
              <a:rPr lang="en-US" dirty="0"/>
              <a:t>The association name is fixed to “HAS-A”</a:t>
            </a:r>
          </a:p>
          <a:p>
            <a:r>
              <a:rPr lang="en-US" dirty="0"/>
              <a:t>Cardinality cannot be “</a:t>
            </a:r>
            <a:r>
              <a:rPr lang="en-US" dirty="0" err="1"/>
              <a:t>many:many</a:t>
            </a:r>
            <a:r>
              <a:rPr lang="en-US" dirty="0"/>
              <a:t>”</a:t>
            </a:r>
          </a:p>
          <a:p>
            <a:r>
              <a:rPr lang="en-US" dirty="0"/>
              <a:t>Child can exist independently until attached to a parent</a:t>
            </a:r>
          </a:p>
        </p:txBody>
      </p:sp>
    </p:spTree>
    <p:extLst>
      <p:ext uri="{BB962C8B-B14F-4D97-AF65-F5344CB8AC3E}">
        <p14:creationId xmlns:p14="http://schemas.microsoft.com/office/powerpoint/2010/main" val="367140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(IS-PART-OF)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781800" y="1354138"/>
            <a:ext cx="2667000" cy="2151062"/>
            <a:chOff x="720" y="1200"/>
            <a:chExt cx="1200" cy="10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 dirty="0"/>
                <a:t>Computer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800" dirty="0" err="1"/>
                <a:t>Serial_No</a:t>
              </a:r>
              <a:endParaRPr lang="en-US" altLang="en-US" sz="2800" dirty="0"/>
            </a:p>
            <a:p>
              <a:pPr eaLnBrk="1" hangingPunct="1"/>
              <a:r>
                <a:rPr lang="en-US" altLang="en-US" sz="2800" dirty="0"/>
                <a:t>Make</a:t>
              </a:r>
            </a:p>
            <a:p>
              <a:pPr eaLnBrk="1" hangingPunct="1"/>
              <a:endParaRPr lang="en-US" altLang="en-US" sz="2800" dirty="0"/>
            </a:p>
            <a:p>
              <a:pPr eaLnBrk="1" hangingPunct="1"/>
              <a:endParaRPr lang="en-US" altLang="en-US" sz="2800" dirty="0"/>
            </a:p>
          </p:txBody>
        </p:sp>
      </p:grp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1905000" y="1658938"/>
            <a:ext cx="2362200" cy="2019481"/>
            <a:chOff x="720" y="1200"/>
            <a:chExt cx="1200" cy="1067"/>
          </a:xfrm>
        </p:grpSpPr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 dirty="0"/>
                <a:t>Peripheral</a:t>
              </a: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720" y="1451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2400" dirty="0" err="1"/>
                <a:t>Peripheral_name</a:t>
              </a:r>
              <a:endParaRPr lang="en-US" altLang="en-US" sz="2800" dirty="0"/>
            </a:p>
            <a:p>
              <a:pPr eaLnBrk="1" hangingPunct="1"/>
              <a:endParaRPr lang="en-US" altLang="en-US" sz="2800" dirty="0"/>
            </a:p>
          </p:txBody>
        </p:sp>
      </p:grpSp>
      <p:cxnSp>
        <p:nvCxnSpPr>
          <p:cNvPr id="10" name="AutoShape 25"/>
          <p:cNvCxnSpPr>
            <a:cxnSpLocks noChangeShapeType="1"/>
            <a:stCxn id="12" idx="1"/>
            <a:endCxn id="9" idx="3"/>
          </p:cNvCxnSpPr>
          <p:nvPr/>
        </p:nvCxnSpPr>
        <p:spPr bwMode="auto">
          <a:xfrm flipH="1">
            <a:off x="4267200" y="2553596"/>
            <a:ext cx="2095500" cy="352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4419601" y="2406652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n</a:t>
            </a:r>
          </a:p>
        </p:txBody>
      </p:sp>
      <p:sp>
        <p:nvSpPr>
          <p:cNvPr id="12" name="Diamond 11"/>
          <p:cNvSpPr/>
          <p:nvPr/>
        </p:nvSpPr>
        <p:spPr>
          <a:xfrm>
            <a:off x="6362700" y="2331208"/>
            <a:ext cx="419100" cy="444776"/>
          </a:xfrm>
          <a:prstGeom prst="diamond">
            <a:avLst/>
          </a:prstGeom>
          <a:solidFill>
            <a:srgbClr val="002060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564314" y="5105400"/>
            <a:ext cx="30091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Parent class</a:t>
            </a:r>
          </a:p>
          <a:p>
            <a:r>
              <a:rPr lang="en-US" sz="3200" dirty="0"/>
              <a:t>Container class</a:t>
            </a:r>
          </a:p>
        </p:txBody>
      </p:sp>
      <p:cxnSp>
        <p:nvCxnSpPr>
          <p:cNvPr id="16" name="Straight Arrow Connector 15"/>
          <p:cNvCxnSpPr>
            <a:endCxn id="9" idx="2"/>
          </p:cNvCxnSpPr>
          <p:nvPr/>
        </p:nvCxnSpPr>
        <p:spPr>
          <a:xfrm flipV="1">
            <a:off x="3086100" y="3678418"/>
            <a:ext cx="0" cy="1884182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924800" y="3678419"/>
            <a:ext cx="0" cy="1251101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58808" y="5644010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Child class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314950" y="2775984"/>
            <a:ext cx="1047750" cy="1415016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2598" y="4201419"/>
            <a:ext cx="4529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Filled diamond placed on container class</a:t>
            </a:r>
          </a:p>
        </p:txBody>
      </p:sp>
      <p:cxnSp>
        <p:nvCxnSpPr>
          <p:cNvPr id="30" name="Straight Arrow Connector 29"/>
          <p:cNvCxnSpPr>
            <a:endCxn id="11" idx="0"/>
          </p:cNvCxnSpPr>
          <p:nvPr/>
        </p:nvCxnSpPr>
        <p:spPr>
          <a:xfrm flipH="1">
            <a:off x="4576054" y="1598578"/>
            <a:ext cx="72146" cy="808074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11806" y="914401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Cardinality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324600"/>
            <a:ext cx="41910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Peripheral is-part-of computer</a:t>
            </a:r>
          </a:p>
        </p:txBody>
      </p:sp>
    </p:spTree>
    <p:extLst>
      <p:ext uri="{BB962C8B-B14F-4D97-AF65-F5344CB8AC3E}">
        <p14:creationId xmlns:p14="http://schemas.microsoft.com/office/powerpoint/2010/main" val="72136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8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(IS-PART-OF)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Composition is similar to Aggregation</a:t>
            </a:r>
          </a:p>
          <a:p>
            <a:r>
              <a:rPr lang="en-US" dirty="0"/>
              <a:t>The relationship name is fixed to “IS-PART-OF”</a:t>
            </a:r>
          </a:p>
          <a:p>
            <a:r>
              <a:rPr lang="en-US" dirty="0"/>
              <a:t>Cardinality cannot be “</a:t>
            </a:r>
            <a:r>
              <a:rPr lang="en-US" dirty="0" err="1"/>
              <a:t>many:many</a:t>
            </a:r>
            <a:r>
              <a:rPr lang="en-US" dirty="0"/>
              <a:t>”</a:t>
            </a:r>
          </a:p>
          <a:p>
            <a:r>
              <a:rPr lang="en-US" dirty="0"/>
              <a:t>Child CANNOT exist independently until attached to a parent (“existence dependency”)</a:t>
            </a:r>
          </a:p>
          <a:p>
            <a:r>
              <a:rPr lang="en-US" dirty="0"/>
              <a:t>Deletion semantics – All child objects get deleted when parent is deleted</a:t>
            </a:r>
          </a:p>
        </p:txBody>
      </p:sp>
    </p:spTree>
    <p:extLst>
      <p:ext uri="{BB962C8B-B14F-4D97-AF65-F5344CB8AC3E}">
        <p14:creationId xmlns:p14="http://schemas.microsoft.com/office/powerpoint/2010/main" val="194807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(IS-A)</a:t>
            </a:r>
          </a:p>
        </p:txBody>
      </p: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3048000" y="1738312"/>
            <a:ext cx="1905000" cy="1371600"/>
            <a:chOff x="720" y="1200"/>
            <a:chExt cx="1200" cy="1056"/>
          </a:xfrm>
        </p:grpSpPr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Student</a:t>
              </a: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SID</a:t>
              </a:r>
            </a:p>
            <a:p>
              <a:pPr eaLnBrk="1" hangingPunct="1"/>
              <a:r>
                <a:rPr lang="en-US" altLang="en-US"/>
                <a:t>Name</a:t>
              </a:r>
            </a:p>
            <a:p>
              <a:pPr eaLnBrk="1" hangingPunct="1"/>
              <a:r>
                <a:rPr lang="en-US" altLang="en-US"/>
                <a:t>GPA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23" name="Group 29"/>
          <p:cNvGrpSpPr>
            <a:grpSpLocks/>
          </p:cNvGrpSpPr>
          <p:nvPr/>
        </p:nvGrpSpPr>
        <p:grpSpPr bwMode="auto">
          <a:xfrm>
            <a:off x="1828800" y="3871912"/>
            <a:ext cx="1905000" cy="1371600"/>
            <a:chOff x="720" y="1200"/>
            <a:chExt cx="1200" cy="1056"/>
          </a:xfrm>
        </p:grpSpPr>
        <p:sp>
          <p:nvSpPr>
            <p:cNvPr id="24" name="Rectangle 30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TA</a:t>
              </a:r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Hours_clocked</a:t>
              </a:r>
            </a:p>
          </p:txBody>
        </p:sp>
      </p:grpSp>
      <p:grpSp>
        <p:nvGrpSpPr>
          <p:cNvPr id="27" name="Group 32"/>
          <p:cNvGrpSpPr>
            <a:grpSpLocks/>
          </p:cNvGrpSpPr>
          <p:nvPr/>
        </p:nvGrpSpPr>
        <p:grpSpPr bwMode="auto">
          <a:xfrm>
            <a:off x="4495800" y="3871912"/>
            <a:ext cx="1905000" cy="1371600"/>
            <a:chOff x="720" y="1200"/>
            <a:chExt cx="1200" cy="1056"/>
          </a:xfrm>
        </p:grpSpPr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Research Engg</a:t>
              </a: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Project_name</a:t>
              </a:r>
            </a:p>
            <a:p>
              <a:pPr eaLnBrk="1" hangingPunct="1"/>
              <a:endParaRPr lang="en-US" altLang="en-US"/>
            </a:p>
          </p:txBody>
        </p:sp>
      </p:grpSp>
      <p:sp>
        <p:nvSpPr>
          <p:cNvPr id="33" name="AutoShape 35"/>
          <p:cNvSpPr>
            <a:spLocks noChangeArrowheads="1"/>
          </p:cNvSpPr>
          <p:nvPr/>
        </p:nvSpPr>
        <p:spPr bwMode="auto">
          <a:xfrm>
            <a:off x="3886200" y="3338512"/>
            <a:ext cx="2286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4" name="AutoShape 36"/>
          <p:cNvCxnSpPr>
            <a:cxnSpLocks noChangeShapeType="1"/>
            <a:stCxn id="33" idx="3"/>
            <a:endCxn id="24" idx="0"/>
          </p:cNvCxnSpPr>
          <p:nvPr/>
        </p:nvCxnSpPr>
        <p:spPr bwMode="auto">
          <a:xfrm rot="5400000">
            <a:off x="3238500" y="3109912"/>
            <a:ext cx="304800" cy="1219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37"/>
          <p:cNvCxnSpPr>
            <a:cxnSpLocks noChangeShapeType="1"/>
            <a:stCxn id="33" idx="3"/>
            <a:endCxn id="29" idx="0"/>
          </p:cNvCxnSpPr>
          <p:nvPr/>
        </p:nvCxnSpPr>
        <p:spPr bwMode="auto">
          <a:xfrm rot="16200000" flipH="1">
            <a:off x="4572000" y="2995612"/>
            <a:ext cx="3048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38"/>
          <p:cNvCxnSpPr>
            <a:cxnSpLocks noChangeShapeType="1"/>
            <a:stCxn id="22" idx="2"/>
            <a:endCxn id="33" idx="0"/>
          </p:cNvCxnSpPr>
          <p:nvPr/>
        </p:nvCxnSpPr>
        <p:spPr bwMode="auto">
          <a:xfrm rot="5400000">
            <a:off x="3886200" y="3224212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/>
          <p:cNvSpPr txBox="1"/>
          <p:nvPr/>
        </p:nvSpPr>
        <p:spPr>
          <a:xfrm>
            <a:off x="7557280" y="2133601"/>
            <a:ext cx="2326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Super class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334000" y="2425987"/>
            <a:ext cx="22098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848600" y="4421188"/>
            <a:ext cx="2417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Sub-classes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6629400" y="4713575"/>
            <a:ext cx="1205720" cy="1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505700" y="3200401"/>
            <a:ext cx="2643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Open triangle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4267200" y="3518475"/>
            <a:ext cx="32385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5715000"/>
            <a:ext cx="11582399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i="1" dirty="0"/>
              <a:t>A student can be either a TA or research engineer or neither</a:t>
            </a:r>
          </a:p>
        </p:txBody>
      </p:sp>
    </p:spTree>
    <p:extLst>
      <p:ext uri="{BB962C8B-B14F-4D97-AF65-F5344CB8AC3E}">
        <p14:creationId xmlns:p14="http://schemas.microsoft.com/office/powerpoint/2010/main" val="423143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(IS-A)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668000" cy="5562600"/>
          </a:xfrm>
        </p:spPr>
        <p:txBody>
          <a:bodyPr/>
          <a:lstStyle/>
          <a:p>
            <a:r>
              <a:rPr lang="en-US" dirty="0"/>
              <a:t>The relationship name is fixed to “IS-A”</a:t>
            </a:r>
          </a:p>
          <a:p>
            <a:r>
              <a:rPr lang="en-US" dirty="0"/>
              <a:t>Child object inherits all attributes of parent objects</a:t>
            </a:r>
          </a:p>
          <a:p>
            <a:r>
              <a:rPr lang="en-US" dirty="0"/>
              <a:t>Class hierarchy can be arbitrarily deep</a:t>
            </a:r>
          </a:p>
          <a:p>
            <a:r>
              <a:rPr lang="en-US" dirty="0"/>
              <a:t>Cardinality </a:t>
            </a:r>
          </a:p>
          <a:p>
            <a:pPr lvl="1"/>
            <a:r>
              <a:rPr lang="en-US" dirty="0"/>
              <a:t>cannot be “</a:t>
            </a:r>
            <a:r>
              <a:rPr lang="en-US" dirty="0" err="1"/>
              <a:t>one:many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cannot be “</a:t>
            </a:r>
            <a:r>
              <a:rPr lang="en-US" dirty="0" err="1"/>
              <a:t>many:many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Cardinality can only be 1:1 or 1:0</a:t>
            </a:r>
          </a:p>
          <a:p>
            <a:pPr lvl="1"/>
            <a:r>
              <a:rPr lang="en-US" dirty="0"/>
              <a:t>So no need to (and must not) mention cardinality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4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subclasses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Parent object cannot exist stand-alone</a:t>
            </a:r>
          </a:p>
          <a:p>
            <a:endParaRPr lang="en-US" dirty="0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3048000" y="2971800"/>
            <a:ext cx="1905000" cy="1371600"/>
            <a:chOff x="720" y="1200"/>
            <a:chExt cx="1200" cy="1056"/>
          </a:xfrm>
        </p:grpSpPr>
        <p:sp>
          <p:nvSpPr>
            <p:cNvPr id="5" name="Rectangle 22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Student</a:t>
              </a:r>
            </a:p>
          </p:txBody>
        </p:sp>
        <p:sp>
          <p:nvSpPr>
            <p:cNvPr id="6" name="Rectangle 23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SID</a:t>
              </a:r>
            </a:p>
            <a:p>
              <a:pPr eaLnBrk="1" hangingPunct="1"/>
              <a:r>
                <a:rPr lang="en-US" altLang="en-US"/>
                <a:t>Name</a:t>
              </a:r>
            </a:p>
            <a:p>
              <a:pPr eaLnBrk="1" hangingPunct="1"/>
              <a:r>
                <a:rPr lang="en-US" altLang="en-US"/>
                <a:t>GPA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28800" y="5105400"/>
            <a:ext cx="1905000" cy="1371600"/>
            <a:chOff x="720" y="1200"/>
            <a:chExt cx="1200" cy="1056"/>
          </a:xfrm>
        </p:grpSpPr>
        <p:sp>
          <p:nvSpPr>
            <p:cNvPr id="8" name="Rectangle 30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TA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Hours_clocked</a:t>
              </a: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4495800" y="5105400"/>
            <a:ext cx="1905000" cy="1371600"/>
            <a:chOff x="720" y="1200"/>
            <a:chExt cx="1200" cy="1056"/>
          </a:xfrm>
        </p:grpSpPr>
        <p:sp>
          <p:nvSpPr>
            <p:cNvPr id="11" name="Rectangle 33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Research Engg</a:t>
              </a:r>
            </a:p>
          </p:txBody>
        </p:sp>
        <p:sp>
          <p:nvSpPr>
            <p:cNvPr id="12" name="Rectangle 34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Project_name</a:t>
              </a:r>
            </a:p>
            <a:p>
              <a:pPr eaLnBrk="1" hangingPunct="1"/>
              <a:endParaRPr lang="en-US" altLang="en-US"/>
            </a:p>
          </p:txBody>
        </p:sp>
      </p:grpSp>
      <p:sp>
        <p:nvSpPr>
          <p:cNvPr id="13" name="AutoShape 35"/>
          <p:cNvSpPr>
            <a:spLocks noChangeArrowheads="1"/>
          </p:cNvSpPr>
          <p:nvPr/>
        </p:nvSpPr>
        <p:spPr bwMode="auto">
          <a:xfrm>
            <a:off x="3886200" y="45720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4" name="AutoShape 36"/>
          <p:cNvCxnSpPr>
            <a:cxnSpLocks noChangeShapeType="1"/>
            <a:stCxn id="13" idx="3"/>
            <a:endCxn id="8" idx="0"/>
          </p:cNvCxnSpPr>
          <p:nvPr/>
        </p:nvCxnSpPr>
        <p:spPr bwMode="auto">
          <a:xfrm rot="5400000">
            <a:off x="3238500" y="4343400"/>
            <a:ext cx="304800" cy="1219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37"/>
          <p:cNvCxnSpPr>
            <a:cxnSpLocks noChangeShapeType="1"/>
            <a:stCxn id="13" idx="3"/>
            <a:endCxn id="11" idx="0"/>
          </p:cNvCxnSpPr>
          <p:nvPr/>
        </p:nvCxnSpPr>
        <p:spPr bwMode="auto">
          <a:xfrm rot="16200000" flipH="1">
            <a:off x="4572000" y="4229100"/>
            <a:ext cx="3048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38"/>
          <p:cNvCxnSpPr>
            <a:cxnSpLocks noChangeShapeType="1"/>
            <a:stCxn id="6" idx="2"/>
            <a:endCxn id="13" idx="0"/>
          </p:cNvCxnSpPr>
          <p:nvPr/>
        </p:nvCxnSpPr>
        <p:spPr bwMode="auto">
          <a:xfrm rot="5400000">
            <a:off x="3886200" y="44577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7505700" y="4368226"/>
            <a:ext cx="2621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Filled triangle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4267200" y="4686300"/>
            <a:ext cx="3238500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86449" y="2489774"/>
            <a:ext cx="5238725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i="1" dirty="0"/>
              <a:t>Every student MUST be either a TA or research engineer </a:t>
            </a:r>
          </a:p>
        </p:txBody>
      </p:sp>
    </p:spTree>
    <p:extLst>
      <p:ext uri="{BB962C8B-B14F-4D97-AF65-F5344CB8AC3E}">
        <p14:creationId xmlns:p14="http://schemas.microsoft.com/office/powerpoint/2010/main" val="930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Describe class diagram in one page!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4800600" y="914400"/>
            <a:ext cx="1905000" cy="1676400"/>
            <a:chOff x="720" y="1200"/>
            <a:chExt cx="1200" cy="1056"/>
          </a:xfrm>
        </p:grpSpPr>
        <p:sp>
          <p:nvSpPr>
            <p:cNvPr id="9257" name="Rectangle 4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Course</a:t>
              </a:r>
            </a:p>
          </p:txBody>
        </p:sp>
        <p:sp>
          <p:nvSpPr>
            <p:cNvPr id="9258" name="Rectangle 5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Course_name</a:t>
              </a:r>
            </a:p>
            <a:p>
              <a:pPr eaLnBrk="1" hangingPunct="1"/>
              <a:r>
                <a:rPr lang="en-US" altLang="en-US"/>
                <a:t>Class_room</a:t>
              </a:r>
            </a:p>
            <a:p>
              <a:pPr eaLnBrk="1" hangingPunct="1"/>
              <a:r>
                <a:rPr lang="en-US" altLang="en-US"/>
                <a:t>Course_credits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9220" name="Group 6"/>
          <p:cNvGrpSpPr>
            <a:grpSpLocks/>
          </p:cNvGrpSpPr>
          <p:nvPr/>
        </p:nvGrpSpPr>
        <p:grpSpPr bwMode="auto">
          <a:xfrm>
            <a:off x="8610600" y="914400"/>
            <a:ext cx="1905000" cy="1676400"/>
            <a:chOff x="720" y="1200"/>
            <a:chExt cx="1200" cy="1056"/>
          </a:xfrm>
        </p:grpSpPr>
        <p:sp>
          <p:nvSpPr>
            <p:cNvPr id="9255" name="Rectangle 7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Instructor</a:t>
              </a:r>
            </a:p>
          </p:txBody>
        </p:sp>
        <p:sp>
          <p:nvSpPr>
            <p:cNvPr id="9256" name="Rectangle 8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Instr_name</a:t>
              </a:r>
            </a:p>
            <a:p>
              <a:pPr eaLnBrk="1" hangingPunct="1"/>
              <a:r>
                <a:rPr lang="en-US" altLang="en-US"/>
                <a:t>Office</a:t>
              </a:r>
            </a:p>
            <a:p>
              <a:pPr eaLnBrk="1" hangingPunct="1"/>
              <a:r>
                <a:rPr lang="en-US" altLang="en-US"/>
                <a:t>e_mail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9221" name="Group 17"/>
          <p:cNvGrpSpPr>
            <a:grpSpLocks/>
          </p:cNvGrpSpPr>
          <p:nvPr/>
        </p:nvGrpSpPr>
        <p:grpSpPr bwMode="auto">
          <a:xfrm>
            <a:off x="1676400" y="914400"/>
            <a:ext cx="1905000" cy="1676400"/>
            <a:chOff x="720" y="1200"/>
            <a:chExt cx="1200" cy="1056"/>
          </a:xfrm>
        </p:grpSpPr>
        <p:sp>
          <p:nvSpPr>
            <p:cNvPr id="9253" name="Rectangle 18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Pre_Req</a:t>
              </a:r>
            </a:p>
          </p:txBody>
        </p:sp>
        <p:sp>
          <p:nvSpPr>
            <p:cNvPr id="9254" name="Rectangle 19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Skill</a:t>
              </a:r>
            </a:p>
            <a:p>
              <a:pPr eaLnBrk="1" hangingPunct="1"/>
              <a:r>
                <a:rPr lang="en-US" altLang="en-US"/>
                <a:t>Experience</a:t>
              </a:r>
            </a:p>
            <a:p>
              <a:pPr eaLnBrk="1" hangingPunct="1"/>
              <a:endParaRPr lang="en-US" altLang="en-US"/>
            </a:p>
          </p:txBody>
        </p:sp>
      </p:grpSp>
      <p:grpSp>
        <p:nvGrpSpPr>
          <p:cNvPr id="9222" name="Group 21"/>
          <p:cNvGrpSpPr>
            <a:grpSpLocks/>
          </p:cNvGrpSpPr>
          <p:nvPr/>
        </p:nvGrpSpPr>
        <p:grpSpPr bwMode="auto">
          <a:xfrm>
            <a:off x="5638800" y="3276600"/>
            <a:ext cx="1905000" cy="1371600"/>
            <a:chOff x="720" y="1200"/>
            <a:chExt cx="1200" cy="1056"/>
          </a:xfrm>
        </p:grpSpPr>
        <p:sp>
          <p:nvSpPr>
            <p:cNvPr id="9251" name="Rectangle 22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Student</a:t>
              </a:r>
            </a:p>
          </p:txBody>
        </p:sp>
        <p:sp>
          <p:nvSpPr>
            <p:cNvPr id="9252" name="Rectangle 23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SID</a:t>
              </a:r>
            </a:p>
            <a:p>
              <a:pPr eaLnBrk="1" hangingPunct="1"/>
              <a:r>
                <a:rPr lang="en-US" altLang="en-US"/>
                <a:t>Name</a:t>
              </a:r>
            </a:p>
            <a:p>
              <a:pPr eaLnBrk="1" hangingPunct="1"/>
              <a:r>
                <a:rPr lang="en-US" altLang="en-US"/>
                <a:t>GPA</a:t>
              </a:r>
            </a:p>
            <a:p>
              <a:pPr eaLnBrk="1" hangingPunct="1"/>
              <a:endParaRPr lang="en-US" altLang="en-US"/>
            </a:p>
          </p:txBody>
        </p:sp>
      </p:grpSp>
      <p:cxnSp>
        <p:nvCxnSpPr>
          <p:cNvPr id="9223" name="AutoShape 25"/>
          <p:cNvCxnSpPr>
            <a:cxnSpLocks noChangeShapeType="1"/>
            <a:endCxn id="9254" idx="3"/>
          </p:cNvCxnSpPr>
          <p:nvPr/>
        </p:nvCxnSpPr>
        <p:spPr bwMode="auto">
          <a:xfrm flipH="1">
            <a:off x="3581400" y="1943100"/>
            <a:ext cx="1066800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5" name="AutoShape 28"/>
          <p:cNvCxnSpPr>
            <a:cxnSpLocks noChangeShapeType="1"/>
            <a:stCxn id="9258" idx="2"/>
            <a:endCxn id="9251" idx="0"/>
          </p:cNvCxnSpPr>
          <p:nvPr/>
        </p:nvCxnSpPr>
        <p:spPr bwMode="auto">
          <a:xfrm rot="16200000" flipH="1">
            <a:off x="5829300" y="2514600"/>
            <a:ext cx="685800" cy="838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226" name="Group 29"/>
          <p:cNvGrpSpPr>
            <a:grpSpLocks/>
          </p:cNvGrpSpPr>
          <p:nvPr/>
        </p:nvGrpSpPr>
        <p:grpSpPr bwMode="auto">
          <a:xfrm>
            <a:off x="4419600" y="5410200"/>
            <a:ext cx="1905000" cy="1371600"/>
            <a:chOff x="720" y="1200"/>
            <a:chExt cx="1200" cy="1056"/>
          </a:xfrm>
        </p:grpSpPr>
        <p:sp>
          <p:nvSpPr>
            <p:cNvPr id="9249" name="Rectangle 30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TA</a:t>
              </a:r>
            </a:p>
          </p:txBody>
        </p:sp>
        <p:sp>
          <p:nvSpPr>
            <p:cNvPr id="9250" name="Rectangle 31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Hours_clocked</a:t>
              </a:r>
            </a:p>
          </p:txBody>
        </p:sp>
      </p:grpSp>
      <p:grpSp>
        <p:nvGrpSpPr>
          <p:cNvPr id="9227" name="Group 32"/>
          <p:cNvGrpSpPr>
            <a:grpSpLocks/>
          </p:cNvGrpSpPr>
          <p:nvPr/>
        </p:nvGrpSpPr>
        <p:grpSpPr bwMode="auto">
          <a:xfrm>
            <a:off x="7086600" y="5410200"/>
            <a:ext cx="1905000" cy="1371600"/>
            <a:chOff x="720" y="1200"/>
            <a:chExt cx="1200" cy="1056"/>
          </a:xfrm>
        </p:grpSpPr>
        <p:sp>
          <p:nvSpPr>
            <p:cNvPr id="9247" name="Rectangle 33"/>
            <p:cNvSpPr>
              <a:spLocks noChangeArrowheads="1"/>
            </p:cNvSpPr>
            <p:nvPr/>
          </p:nvSpPr>
          <p:spPr bwMode="auto">
            <a:xfrm>
              <a:off x="720" y="1200"/>
              <a:ext cx="1200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/>
                <a:t>Research Engg</a:t>
              </a:r>
            </a:p>
          </p:txBody>
        </p:sp>
        <p:sp>
          <p:nvSpPr>
            <p:cNvPr id="9248" name="Rectangle 34"/>
            <p:cNvSpPr>
              <a:spLocks noChangeArrowheads="1"/>
            </p:cNvSpPr>
            <p:nvPr/>
          </p:nvSpPr>
          <p:spPr bwMode="auto">
            <a:xfrm>
              <a:off x="720" y="1440"/>
              <a:ext cx="1200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Project_name</a:t>
              </a:r>
            </a:p>
            <a:p>
              <a:pPr eaLnBrk="1" hangingPunct="1"/>
              <a:endParaRPr lang="en-US" altLang="en-US"/>
            </a:p>
          </p:txBody>
        </p:sp>
      </p:grpSp>
      <p:sp>
        <p:nvSpPr>
          <p:cNvPr id="9228" name="AutoShape 35"/>
          <p:cNvSpPr>
            <a:spLocks noChangeArrowheads="1"/>
          </p:cNvSpPr>
          <p:nvPr/>
        </p:nvSpPr>
        <p:spPr bwMode="auto">
          <a:xfrm>
            <a:off x="6477000" y="4876800"/>
            <a:ext cx="228600" cy="2286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9229" name="AutoShape 36"/>
          <p:cNvCxnSpPr>
            <a:cxnSpLocks noChangeShapeType="1"/>
            <a:stCxn id="9228" idx="3"/>
            <a:endCxn id="9249" idx="0"/>
          </p:cNvCxnSpPr>
          <p:nvPr/>
        </p:nvCxnSpPr>
        <p:spPr bwMode="auto">
          <a:xfrm rot="5400000">
            <a:off x="5829300" y="4648200"/>
            <a:ext cx="304800" cy="1219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30" name="AutoShape 37"/>
          <p:cNvCxnSpPr>
            <a:cxnSpLocks noChangeShapeType="1"/>
            <a:stCxn id="9228" idx="3"/>
            <a:endCxn id="9247" idx="0"/>
          </p:cNvCxnSpPr>
          <p:nvPr/>
        </p:nvCxnSpPr>
        <p:spPr bwMode="auto">
          <a:xfrm rot="16200000" flipH="1">
            <a:off x="7162800" y="4533900"/>
            <a:ext cx="3048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31" name="AutoShape 38"/>
          <p:cNvCxnSpPr>
            <a:cxnSpLocks noChangeShapeType="1"/>
            <a:stCxn id="9252" idx="2"/>
            <a:endCxn id="9228" idx="0"/>
          </p:cNvCxnSpPr>
          <p:nvPr/>
        </p:nvCxnSpPr>
        <p:spPr bwMode="auto">
          <a:xfrm rot="5400000">
            <a:off x="6477000" y="4762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2" name="Line 41"/>
          <p:cNvSpPr>
            <a:spLocks noChangeShapeType="1"/>
          </p:cNvSpPr>
          <p:nvPr/>
        </p:nvSpPr>
        <p:spPr bwMode="auto">
          <a:xfrm flipV="1">
            <a:off x="5029200" y="25908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Text Box 44"/>
          <p:cNvSpPr txBox="1">
            <a:spLocks noChangeArrowheads="1"/>
          </p:cNvSpPr>
          <p:nvPr/>
        </p:nvSpPr>
        <p:spPr bwMode="auto">
          <a:xfrm>
            <a:off x="6553200" y="2909888"/>
            <a:ext cx="201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Enrolled_students</a:t>
            </a:r>
          </a:p>
        </p:txBody>
      </p:sp>
      <p:sp>
        <p:nvSpPr>
          <p:cNvPr id="9236" name="Text Box 45"/>
          <p:cNvSpPr txBox="1">
            <a:spLocks noChangeArrowheads="1"/>
          </p:cNvSpPr>
          <p:nvPr/>
        </p:nvSpPr>
        <p:spPr bwMode="auto">
          <a:xfrm>
            <a:off x="5699126" y="2498725"/>
            <a:ext cx="1751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/>
              <a:t>Enrolled_courses</a:t>
            </a:r>
          </a:p>
        </p:txBody>
      </p:sp>
      <p:sp>
        <p:nvSpPr>
          <p:cNvPr id="9237" name="Text Box 46"/>
          <p:cNvSpPr txBox="1">
            <a:spLocks noChangeArrowheads="1"/>
          </p:cNvSpPr>
          <p:nvPr/>
        </p:nvSpPr>
        <p:spPr bwMode="auto">
          <a:xfrm>
            <a:off x="3429000" y="2743200"/>
            <a:ext cx="165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/>
              <a:t>course_assisted</a:t>
            </a:r>
          </a:p>
        </p:txBody>
      </p:sp>
      <p:sp>
        <p:nvSpPr>
          <p:cNvPr id="9238" name="Text Box 47"/>
          <p:cNvSpPr txBox="1">
            <a:spLocks noChangeArrowheads="1"/>
          </p:cNvSpPr>
          <p:nvPr/>
        </p:nvSpPr>
        <p:spPr bwMode="auto">
          <a:xfrm>
            <a:off x="4119564" y="4724400"/>
            <a:ext cx="9858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/>
              <a:t>assistant</a:t>
            </a:r>
          </a:p>
        </p:txBody>
      </p:sp>
      <p:sp>
        <p:nvSpPr>
          <p:cNvPr id="9239" name="Text Box 48"/>
          <p:cNvSpPr txBox="1">
            <a:spLocks noChangeArrowheads="1"/>
          </p:cNvSpPr>
          <p:nvPr/>
        </p:nvSpPr>
        <p:spPr bwMode="auto">
          <a:xfrm>
            <a:off x="3641725" y="1633539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 dirty="0"/>
              <a:t>1</a:t>
            </a:r>
          </a:p>
        </p:txBody>
      </p:sp>
      <p:sp>
        <p:nvSpPr>
          <p:cNvPr id="9240" name="Text Box 49"/>
          <p:cNvSpPr txBox="1">
            <a:spLocks noChangeArrowheads="1"/>
          </p:cNvSpPr>
          <p:nvPr/>
        </p:nvSpPr>
        <p:spPr bwMode="auto">
          <a:xfrm>
            <a:off x="5452978" y="2542400"/>
            <a:ext cx="3129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 dirty="0"/>
              <a:t>m</a:t>
            </a:r>
          </a:p>
        </p:txBody>
      </p:sp>
      <p:sp>
        <p:nvSpPr>
          <p:cNvPr id="9241" name="Text Box 50"/>
          <p:cNvSpPr txBox="1">
            <a:spLocks noChangeArrowheads="1"/>
          </p:cNvSpPr>
          <p:nvPr/>
        </p:nvSpPr>
        <p:spPr bwMode="auto">
          <a:xfrm>
            <a:off x="6378824" y="2961744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 dirty="0"/>
              <a:t>n</a:t>
            </a:r>
          </a:p>
        </p:txBody>
      </p:sp>
      <p:sp>
        <p:nvSpPr>
          <p:cNvPr id="9244" name="Text Box 53"/>
          <p:cNvSpPr txBox="1">
            <a:spLocks noChangeArrowheads="1"/>
          </p:cNvSpPr>
          <p:nvPr/>
        </p:nvSpPr>
        <p:spPr bwMode="auto">
          <a:xfrm>
            <a:off x="4724400" y="2590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9245" name="Text Box 54"/>
          <p:cNvSpPr txBox="1">
            <a:spLocks noChangeArrowheads="1"/>
          </p:cNvSpPr>
          <p:nvPr/>
        </p:nvSpPr>
        <p:spPr bwMode="auto">
          <a:xfrm>
            <a:off x="4724400" y="51054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9246" name="AutoShape 55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9829800" y="6248400"/>
            <a:ext cx="838200" cy="609600"/>
          </a:xfrm>
          <a:prstGeom prst="actionButtonReturn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3" name="AutoShape 37"/>
          <p:cNvCxnSpPr>
            <a:cxnSpLocks noChangeShapeType="1"/>
            <a:stCxn id="9256" idx="2"/>
            <a:endCxn id="9252" idx="3"/>
          </p:cNvCxnSpPr>
          <p:nvPr/>
        </p:nvCxnSpPr>
        <p:spPr bwMode="auto">
          <a:xfrm rot="5400000">
            <a:off x="7789718" y="2344882"/>
            <a:ext cx="1527464" cy="20193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EED9C3E-0B67-41BC-A6AC-D0731D75F169}"/>
              </a:ext>
            </a:extLst>
          </p:cNvPr>
          <p:cNvSpPr txBox="1"/>
          <p:nvPr/>
        </p:nvSpPr>
        <p:spPr>
          <a:xfrm>
            <a:off x="226150" y="3447618"/>
            <a:ext cx="3577213" cy="267765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i="1" dirty="0"/>
              <a:t>Every piece of information (every </a:t>
            </a:r>
            <a:r>
              <a:rPr lang="en-US" sz="2800" i="1"/>
              <a:t>word and letter!) </a:t>
            </a:r>
            <a:r>
              <a:rPr lang="en-US" sz="2800" i="1" dirty="0"/>
              <a:t>found in this diagram must find a place in your description</a:t>
            </a:r>
          </a:p>
        </p:txBody>
      </p:sp>
    </p:spTree>
    <p:extLst>
      <p:ext uri="{BB962C8B-B14F-4D97-AF65-F5344CB8AC3E}">
        <p14:creationId xmlns:p14="http://schemas.microsoft.com/office/powerpoint/2010/main" val="263430117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650</TotalTime>
  <Words>653</Words>
  <Application>Microsoft Office PowerPoint</Application>
  <PresentationFormat>Widescreen</PresentationFormat>
  <Paragraphs>205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Verdana</vt:lpstr>
      <vt:lpstr>blank</vt:lpstr>
      <vt:lpstr>UML Class Diagrams</vt:lpstr>
      <vt:lpstr>Outline</vt:lpstr>
      <vt:lpstr>UML Components</vt:lpstr>
      <vt:lpstr>Elements of Class Diagram</vt:lpstr>
      <vt:lpstr>Class and attributes</vt:lpstr>
      <vt:lpstr>Association</vt:lpstr>
      <vt:lpstr>Association cardinality</vt:lpstr>
      <vt:lpstr>One-to-one (written as 1:1)</vt:lpstr>
      <vt:lpstr>One-to-many (written as 1:n)</vt:lpstr>
      <vt:lpstr>Many-to-one (written as n:1)</vt:lpstr>
      <vt:lpstr>Aggregation (HAS-A)</vt:lpstr>
      <vt:lpstr>Aggregation (HAS-A)</vt:lpstr>
      <vt:lpstr>Composition (IS-PART-OF)</vt:lpstr>
      <vt:lpstr>Composition (IS-PART-OF)</vt:lpstr>
      <vt:lpstr>Inheritance (IS-A)</vt:lpstr>
      <vt:lpstr>Inheritance (IS-A)</vt:lpstr>
      <vt:lpstr>Partitioned subclasses</vt:lpstr>
      <vt:lpstr>Describe class diagram in one page!</vt:lpstr>
    </vt:vector>
  </TitlesOfParts>
  <Company>iiitb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</dc:title>
  <dc:creator>iiitb1</dc:creator>
  <cp:lastModifiedBy>Prof. RC</cp:lastModifiedBy>
  <cp:revision>109</cp:revision>
  <dcterms:created xsi:type="dcterms:W3CDTF">2008-10-01T02:40:03Z</dcterms:created>
  <dcterms:modified xsi:type="dcterms:W3CDTF">2025-03-17T13:43:36Z</dcterms:modified>
</cp:coreProperties>
</file>